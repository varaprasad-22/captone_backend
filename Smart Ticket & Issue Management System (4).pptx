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75dd74b5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75dd74b5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75dd74b58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75dd74b58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75dd74b5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75dd74b5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75dd74b58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75dd74b5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75dd74b58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75dd74b5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75dd74b58_0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75dd74b58_0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75dd74b58_0_1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75dd74b58_0_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75dd74b58_0_1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b75dd74b58_0_1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75dd74b58_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b75dd74b58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772edf0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772edf0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75dd74b58_0_1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75dd74b58_0_1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75dd74b58_0_1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b75dd74b58_0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75dd74b58_0_1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75dd74b58_0_1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75dd74b58_0_1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75dd74b58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80962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Ticket &amp; Issue Management System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79725" y="4107975"/>
            <a:ext cx="42756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V. Lakshmi Varaprasad Reddy Chubb Ate Java Track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We Are Trying To Solve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044300"/>
            <a:ext cx="7462500" cy="3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205"/>
              <a:t>Inefficient Tracking</a:t>
            </a:r>
            <a:r>
              <a:rPr lang="en" sz="1205"/>
              <a:t>  :</a:t>
            </a:r>
            <a:endParaRPr sz="1205"/>
          </a:p>
          <a:p>
            <a:pPr indent="-30511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5"/>
              <a:buChar char="●"/>
            </a:pPr>
            <a:r>
              <a:rPr lang="en" sz="1205"/>
              <a:t>Manual email and spreadsheet-based ticket tracking creates bottlenecks and errors in support workflows.</a:t>
            </a:r>
            <a:endParaRPr sz="12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205"/>
              <a:t>Operational Blind</a:t>
            </a:r>
            <a:endParaRPr b="1" sz="1205"/>
          </a:p>
          <a:p>
            <a:pPr indent="-30511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5"/>
              <a:buChar char="●"/>
            </a:pPr>
            <a:r>
              <a:rPr lang="en" sz="1205"/>
              <a:t> Spots Limited visibility into real-time ticket status, priority levels, and total resolution time.</a:t>
            </a:r>
            <a:endParaRPr sz="12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205"/>
              <a:t>Communication Gaps</a:t>
            </a:r>
            <a:endParaRPr b="1" sz="1205"/>
          </a:p>
          <a:p>
            <a:pPr indent="-30511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5"/>
              <a:buChar char="●"/>
            </a:pPr>
            <a:r>
              <a:rPr lang="en" sz="1205"/>
              <a:t> Poor coordination between frontline support agents and management teams.</a:t>
            </a:r>
            <a:endParaRPr sz="12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205"/>
              <a:t>Performance Metrics </a:t>
            </a:r>
            <a:endParaRPr b="1" sz="1205"/>
          </a:p>
          <a:p>
            <a:pPr indent="-30511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5"/>
              <a:buChar char="●"/>
            </a:pPr>
            <a:r>
              <a:rPr lang="en" sz="1205"/>
              <a:t>Minimal reporting capabilities for SLA compliance and overall team performance tracking.</a:t>
            </a:r>
            <a:endParaRPr sz="12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205"/>
              <a:t>Decentralized Processes</a:t>
            </a:r>
            <a:endParaRPr b="1" sz="1205"/>
          </a:p>
          <a:p>
            <a:pPr indent="-30511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5"/>
              <a:buChar char="●"/>
            </a:pPr>
            <a:r>
              <a:rPr lang="en" sz="1205"/>
              <a:t> No centralized system for ticket assignment and escalation leads to delayed responses.</a:t>
            </a:r>
            <a:endParaRPr sz="120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5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 Overview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1297500" y="1134875"/>
            <a:ext cx="7748700" cy="61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 comprehensive microservices architecture designed for scalability, reliability, and intelligent ticket routing across distributed systems.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903000"/>
            <a:ext cx="7256700" cy="308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 </a:t>
            </a:r>
            <a:r>
              <a:rPr lang="en"/>
              <a:t>Independent Microservices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521588" y="1492250"/>
            <a:ext cx="2503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Auth Service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Authentication &amp; Authorization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3218513" y="1492250"/>
            <a:ext cx="2269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T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icket Service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Core ticket management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5681263" y="1492250"/>
            <a:ext cx="2269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Assignment Service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Smart ticket routing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521588" y="2651450"/>
            <a:ext cx="2269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Notification Service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Real-time alerts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2383163" y="2651450"/>
            <a:ext cx="2269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Api Gateway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Request routing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4717113" y="2651450"/>
            <a:ext cx="2269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Eureka Server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 Discovery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6842513" y="2651450"/>
            <a:ext cx="2269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Config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Server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GitHub Properties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Stack</a:t>
            </a:r>
            <a:endParaRPr/>
          </a:p>
        </p:txBody>
      </p:sp>
      <p:sp>
        <p:nvSpPr>
          <p:cNvPr id="166" name="Google Shape;166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Boot &amp; Spring Cloud for microservices framework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MySQL &amp; MongoDB for hybrid data storage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RabbitMQ as message broker for async communication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Docker &amp; Docker Compose for containerization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JWT Authentication for secure access control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title"/>
          </p:nvPr>
        </p:nvSpPr>
        <p:spPr>
          <a:xfrm>
            <a:off x="917700" y="138275"/>
            <a:ext cx="7038900" cy="914100"/>
          </a:xfrm>
          <a:prstGeom prst="rect">
            <a:avLst/>
          </a:prstGeom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Design Strategy</a:t>
            </a:r>
            <a:endParaRPr/>
          </a:p>
        </p:txBody>
      </p:sp>
      <p:cxnSp>
        <p:nvCxnSpPr>
          <p:cNvPr id="172" name="Google Shape;172;p18"/>
          <p:cNvCxnSpPr>
            <a:stCxn id="173" idx="2"/>
            <a:endCxn id="174" idx="0"/>
          </p:cNvCxnSpPr>
          <p:nvPr/>
        </p:nvCxnSpPr>
        <p:spPr>
          <a:xfrm flipH="1" rot="-5400000">
            <a:off x="4869175" y="1852175"/>
            <a:ext cx="513900" cy="9252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175" name="Google Shape;175;p18"/>
          <p:cNvCxnSpPr>
            <a:stCxn id="176" idx="2"/>
            <a:endCxn id="177" idx="0"/>
          </p:cNvCxnSpPr>
          <p:nvPr/>
        </p:nvCxnSpPr>
        <p:spPr>
          <a:xfrm flipH="1" rot="-5400000">
            <a:off x="844075" y="3262188"/>
            <a:ext cx="771600" cy="5595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178" name="Google Shape;178;p18"/>
          <p:cNvCxnSpPr>
            <a:stCxn id="179" idx="0"/>
            <a:endCxn id="176" idx="2"/>
          </p:cNvCxnSpPr>
          <p:nvPr/>
        </p:nvCxnSpPr>
        <p:spPr>
          <a:xfrm rot="-5400000">
            <a:off x="363925" y="3341475"/>
            <a:ext cx="771600" cy="4008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180" name="Google Shape;180;p18"/>
          <p:cNvCxnSpPr>
            <a:stCxn id="174" idx="2"/>
            <a:endCxn id="181" idx="0"/>
          </p:cNvCxnSpPr>
          <p:nvPr/>
        </p:nvCxnSpPr>
        <p:spPr>
          <a:xfrm rot="5400000">
            <a:off x="4537225" y="2876400"/>
            <a:ext cx="771600" cy="1331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182" name="Google Shape;182;p18"/>
          <p:cNvCxnSpPr>
            <a:stCxn id="183" idx="0"/>
            <a:endCxn id="174" idx="2"/>
          </p:cNvCxnSpPr>
          <p:nvPr/>
        </p:nvCxnSpPr>
        <p:spPr>
          <a:xfrm rot="-5400000">
            <a:off x="4079621" y="2418900"/>
            <a:ext cx="771600" cy="2246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184" name="Google Shape;184;p18"/>
          <p:cNvCxnSpPr>
            <a:stCxn id="176" idx="0"/>
            <a:endCxn id="173" idx="2"/>
          </p:cNvCxnSpPr>
          <p:nvPr/>
        </p:nvCxnSpPr>
        <p:spPr>
          <a:xfrm rot="-5400000">
            <a:off x="2549875" y="458088"/>
            <a:ext cx="513900" cy="37134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73" name="Google Shape;173;p18"/>
          <p:cNvSpPr txBox="1"/>
          <p:nvPr/>
        </p:nvSpPr>
        <p:spPr>
          <a:xfrm>
            <a:off x="3894475" y="1473425"/>
            <a:ext cx="1538100" cy="58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Ticket System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181075" y="2571738"/>
            <a:ext cx="1538100" cy="58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Auth Db(My Sql)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4819525" y="2571750"/>
            <a:ext cx="1538100" cy="58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Assignment Db(My Sql)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3889350" y="3927750"/>
            <a:ext cx="736500" cy="58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Sla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2974121" y="3927750"/>
            <a:ext cx="736500" cy="58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Assignments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1141225" y="3927675"/>
            <a:ext cx="736500" cy="58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Users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181075" y="3927675"/>
            <a:ext cx="736500" cy="58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Roles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7150675" y="2571750"/>
            <a:ext cx="1538100" cy="58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Ticket System(MongoDb)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2592150" y="2571750"/>
            <a:ext cx="1538100" cy="58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Notification Db(My Sql)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" name="Google Shape;187;p18"/>
          <p:cNvCxnSpPr>
            <a:stCxn id="173" idx="2"/>
            <a:endCxn id="186" idx="0"/>
          </p:cNvCxnSpPr>
          <p:nvPr/>
        </p:nvCxnSpPr>
        <p:spPr>
          <a:xfrm rot="5400000">
            <a:off x="3755425" y="1663625"/>
            <a:ext cx="513900" cy="13023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8"/>
          <p:cNvCxnSpPr>
            <a:stCxn id="173" idx="2"/>
            <a:endCxn id="185" idx="0"/>
          </p:cNvCxnSpPr>
          <p:nvPr/>
        </p:nvCxnSpPr>
        <p:spPr>
          <a:xfrm flipH="1" rot="-5400000">
            <a:off x="6034675" y="686675"/>
            <a:ext cx="513900" cy="32562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18"/>
          <p:cNvSpPr txBox="1"/>
          <p:nvPr/>
        </p:nvSpPr>
        <p:spPr>
          <a:xfrm>
            <a:off x="2092400" y="3927675"/>
            <a:ext cx="736500" cy="58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Notification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0" name="Google Shape;190;p18"/>
          <p:cNvCxnSpPr>
            <a:stCxn id="186" idx="2"/>
            <a:endCxn id="189" idx="0"/>
          </p:cNvCxnSpPr>
          <p:nvPr/>
        </p:nvCxnSpPr>
        <p:spPr>
          <a:xfrm rot="5400000">
            <a:off x="2525100" y="3091650"/>
            <a:ext cx="771600" cy="9006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18"/>
          <p:cNvSpPr txBox="1"/>
          <p:nvPr/>
        </p:nvSpPr>
        <p:spPr>
          <a:xfrm>
            <a:off x="4819525" y="3927675"/>
            <a:ext cx="736500" cy="58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Sla Events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5738375" y="3927675"/>
            <a:ext cx="736500" cy="58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Sla Rules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18"/>
          <p:cNvCxnSpPr>
            <a:stCxn id="174" idx="2"/>
            <a:endCxn id="191" idx="0"/>
          </p:cNvCxnSpPr>
          <p:nvPr/>
        </p:nvCxnSpPr>
        <p:spPr>
          <a:xfrm rot="5400000">
            <a:off x="5002375" y="3341550"/>
            <a:ext cx="771600" cy="4008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18"/>
          <p:cNvCxnSpPr>
            <a:stCxn id="174" idx="2"/>
            <a:endCxn id="192" idx="0"/>
          </p:cNvCxnSpPr>
          <p:nvPr/>
        </p:nvCxnSpPr>
        <p:spPr>
          <a:xfrm flipH="1" rot="-5400000">
            <a:off x="5461825" y="3282900"/>
            <a:ext cx="771600" cy="5181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18"/>
          <p:cNvSpPr txBox="1"/>
          <p:nvPr/>
        </p:nvSpPr>
        <p:spPr>
          <a:xfrm>
            <a:off x="6603046" y="3927750"/>
            <a:ext cx="736500" cy="58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Comments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" name="Google Shape;196;p18"/>
          <p:cNvCxnSpPr>
            <a:stCxn id="185" idx="2"/>
            <a:endCxn id="195" idx="0"/>
          </p:cNvCxnSpPr>
          <p:nvPr/>
        </p:nvCxnSpPr>
        <p:spPr>
          <a:xfrm rot="5400000">
            <a:off x="7059775" y="3067800"/>
            <a:ext cx="771600" cy="948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18"/>
          <p:cNvSpPr txBox="1"/>
          <p:nvPr/>
        </p:nvSpPr>
        <p:spPr>
          <a:xfrm>
            <a:off x="7467725" y="3927750"/>
            <a:ext cx="736500" cy="58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Attachments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" name="Google Shape;198;p18"/>
          <p:cNvCxnSpPr>
            <a:stCxn id="185" idx="2"/>
            <a:endCxn id="197" idx="0"/>
          </p:cNvCxnSpPr>
          <p:nvPr/>
        </p:nvCxnSpPr>
        <p:spPr>
          <a:xfrm rot="5400000">
            <a:off x="7492075" y="3500100"/>
            <a:ext cx="771600" cy="83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18"/>
          <p:cNvSpPr txBox="1"/>
          <p:nvPr/>
        </p:nvSpPr>
        <p:spPr>
          <a:xfrm>
            <a:off x="8283925" y="3927750"/>
            <a:ext cx="736500" cy="58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TicketCollection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" name="Google Shape;200;p18"/>
          <p:cNvCxnSpPr>
            <a:stCxn id="185" idx="2"/>
            <a:endCxn id="199" idx="0"/>
          </p:cNvCxnSpPr>
          <p:nvPr/>
        </p:nvCxnSpPr>
        <p:spPr>
          <a:xfrm flipH="1" rot="-5400000">
            <a:off x="7900225" y="3175650"/>
            <a:ext cx="771600" cy="732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Sql Schema</a:t>
            </a:r>
            <a:endParaRPr/>
          </a:p>
        </p:txBody>
      </p:sp>
      <p:sp>
        <p:nvSpPr>
          <p:cNvPr id="206" name="Google Shape;206;p19"/>
          <p:cNvSpPr txBox="1"/>
          <p:nvPr>
            <p:ph idx="1" type="body"/>
          </p:nvPr>
        </p:nvSpPr>
        <p:spPr>
          <a:xfrm>
            <a:off x="1297500" y="14042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Users Table Authentication credentials and comprehensive user profiles for all system participants.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 Assignments Table Complete ticket assignment history tracking for accountability and audit trails.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3 Notifications Table Event notifications and alert management for real-time communication.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MongoDb Collections</a:t>
            </a:r>
            <a:endParaRPr/>
          </a:p>
        </p:txBody>
      </p:sp>
      <p:sp>
        <p:nvSpPr>
          <p:cNvPr id="212" name="Google Shape;212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Comments Collection — </a:t>
            </a:r>
            <a:r>
              <a:rPr lang="en"/>
              <a:t>Embedded comments within ticket documents enable threaded conversations and collaboration history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Tickets Collection — Flexible schema design accommodates complex ticket structures with extensible properties and dynamic fields.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Attachments — File URLs and metadata storage for supporting documentation and evidence.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Sonar Qube Reports</a:t>
            </a:r>
            <a:endParaRPr/>
          </a:p>
        </p:txBody>
      </p:sp>
      <p:pic>
        <p:nvPicPr>
          <p:cNvPr id="218" name="Google Shape;2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50" y="940425"/>
            <a:ext cx="7038900" cy="36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952" y="555071"/>
            <a:ext cx="7170376" cy="40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800" y="480650"/>
            <a:ext cx="8161800" cy="395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r>
              <a:rPr lang="en"/>
              <a:t> Reports</a:t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349" y="1067950"/>
            <a:ext cx="6771300" cy="380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525" y="398326"/>
            <a:ext cx="8016052" cy="45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225" y="234688"/>
            <a:ext cx="8309552" cy="467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725" y="461426"/>
            <a:ext cx="7011024" cy="394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