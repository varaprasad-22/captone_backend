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Inter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Inter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513c7ad71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b513c7ad71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513c7ad71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513c7ad71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513c7ad71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b513c7ad71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13c7ad71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13c7ad71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513c7ad71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3.png"/><Relationship Id="rId13" Type="http://schemas.openxmlformats.org/officeDocument/2006/relationships/image" Target="../media/image24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5" Type="http://schemas.openxmlformats.org/officeDocument/2006/relationships/image" Target="../media/image34.png"/><Relationship Id="rId1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ai mark"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" y="320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water mark here too" id="63" name="Google Shape;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water mark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557926" y="293378"/>
            <a:ext cx="1587600" cy="352200"/>
          </a:xfrm>
          <a:prstGeom prst="roundRect">
            <a:avLst>
              <a:gd fmla="val 38312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321" y="394462"/>
            <a:ext cx="149900" cy="1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895111" y="349575"/>
            <a:ext cx="11382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b="0" i="0" sz="1150" u="none" cap="none" strike="noStrike"/>
          </a:p>
        </p:txBody>
      </p:sp>
      <p:sp>
        <p:nvSpPr>
          <p:cNvPr id="78" name="Google Shape;78;p17"/>
          <p:cNvSpPr/>
          <p:nvPr/>
        </p:nvSpPr>
        <p:spPr>
          <a:xfrm>
            <a:off x="557925" y="888676"/>
            <a:ext cx="68826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650"/>
              <a:buFont typeface="Montserrat"/>
              <a:buNone/>
            </a:pPr>
            <a:r>
              <a:rPr lang="en-US" sz="3650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0" i="0" lang="en-US" sz="3650" u="none" cap="none" strike="noStrike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 Independent Microservices</a:t>
            </a:r>
            <a:endParaRPr b="0" i="0" sz="3650" u="none" cap="none" strike="noStrike"/>
          </a:p>
        </p:txBody>
      </p:sp>
      <p:sp>
        <p:nvSpPr>
          <p:cNvPr id="79" name="Google Shape;79;p17"/>
          <p:cNvSpPr/>
          <p:nvPr/>
        </p:nvSpPr>
        <p:spPr>
          <a:xfrm>
            <a:off x="557925" y="1666975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830" y="1810350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373" y="1924035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752830" y="2361605"/>
            <a:ext cx="234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Auth Service</a:t>
            </a:r>
            <a:endParaRPr b="0" i="0" sz="1800" u="none" cap="none" strike="noStrike"/>
          </a:p>
        </p:txBody>
      </p:sp>
      <p:sp>
        <p:nvSpPr>
          <p:cNvPr id="83" name="Google Shape;83;p17"/>
          <p:cNvSpPr/>
          <p:nvPr/>
        </p:nvSpPr>
        <p:spPr>
          <a:xfrm>
            <a:off x="752830" y="2659567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Authentication &amp; Authorization</a:t>
            </a:r>
            <a:endParaRPr b="0" i="0" sz="145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6578076" y="1666975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981" y="1810350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27524" y="1924035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6772981" y="2361605"/>
            <a:ext cx="234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Ticket Service</a:t>
            </a:r>
            <a:endParaRPr b="0" i="0" sz="1800" u="none" cap="none" strike="noStrike"/>
          </a:p>
        </p:txBody>
      </p:sp>
      <p:sp>
        <p:nvSpPr>
          <p:cNvPr id="88" name="Google Shape;88;p17"/>
          <p:cNvSpPr/>
          <p:nvPr/>
        </p:nvSpPr>
        <p:spPr>
          <a:xfrm>
            <a:off x="6772981" y="2659567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Core ticket management</a:t>
            </a:r>
            <a:endParaRPr b="0" i="0" sz="1450" u="none" cap="none" strike="noStrike"/>
          </a:p>
        </p:txBody>
      </p:sp>
      <p:sp>
        <p:nvSpPr>
          <p:cNvPr id="89" name="Google Shape;89;p17"/>
          <p:cNvSpPr/>
          <p:nvPr/>
        </p:nvSpPr>
        <p:spPr>
          <a:xfrm>
            <a:off x="557925" y="3161250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830" y="3304625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373" y="3418310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752830" y="3855881"/>
            <a:ext cx="236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Assignment Service</a:t>
            </a:r>
            <a:endParaRPr b="0" i="0" sz="1800" u="none" cap="none" strike="noStrike"/>
          </a:p>
        </p:txBody>
      </p:sp>
      <p:sp>
        <p:nvSpPr>
          <p:cNvPr id="93" name="Google Shape;93;p17"/>
          <p:cNvSpPr/>
          <p:nvPr/>
        </p:nvSpPr>
        <p:spPr>
          <a:xfrm>
            <a:off x="752830" y="4153842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Smart ticket routing</a:t>
            </a:r>
            <a:endParaRPr b="0" i="0" sz="1450" u="none" cap="none" strike="noStrike"/>
          </a:p>
        </p:txBody>
      </p:sp>
      <p:sp>
        <p:nvSpPr>
          <p:cNvPr id="94" name="Google Shape;94;p17"/>
          <p:cNvSpPr/>
          <p:nvPr/>
        </p:nvSpPr>
        <p:spPr>
          <a:xfrm>
            <a:off x="6578076" y="3161250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72981" y="3304625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27524" y="3418310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6772981" y="3855881"/>
            <a:ext cx="234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Notification Service</a:t>
            </a:r>
            <a:endParaRPr b="0" i="0" sz="1800" u="none" cap="none" strike="noStrike"/>
          </a:p>
        </p:txBody>
      </p:sp>
      <p:sp>
        <p:nvSpPr>
          <p:cNvPr id="98" name="Google Shape;98;p17"/>
          <p:cNvSpPr/>
          <p:nvPr/>
        </p:nvSpPr>
        <p:spPr>
          <a:xfrm>
            <a:off x="6772981" y="4153842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Real-time alerts</a:t>
            </a:r>
            <a:endParaRPr b="0" i="0" sz="1450" u="none" cap="none" strike="noStrike"/>
          </a:p>
        </p:txBody>
      </p:sp>
      <p:sp>
        <p:nvSpPr>
          <p:cNvPr id="99" name="Google Shape;99;p17"/>
          <p:cNvSpPr/>
          <p:nvPr/>
        </p:nvSpPr>
        <p:spPr>
          <a:xfrm>
            <a:off x="557925" y="4655525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830" y="4798901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7373" y="4912585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752830" y="5350156"/>
            <a:ext cx="234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API Gateway</a:t>
            </a:r>
            <a:endParaRPr b="0" i="0" sz="180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752830" y="5648118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Request routing</a:t>
            </a:r>
            <a:endParaRPr b="0" i="0" sz="145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6578076" y="4655525"/>
            <a:ext cx="5832900" cy="13566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72981" y="4798901"/>
            <a:ext cx="562094" cy="41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27524" y="4912585"/>
            <a:ext cx="252889" cy="186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6772981" y="5350156"/>
            <a:ext cx="234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Eureka Server</a:t>
            </a:r>
            <a:endParaRPr b="0" i="0" sz="180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6772981" y="5648118"/>
            <a:ext cx="5443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Service discovery</a:t>
            </a:r>
            <a:endParaRPr b="0" i="0" sz="1450" u="none" cap="none" strike="noStrike"/>
          </a:p>
        </p:txBody>
      </p:sp>
      <p:sp>
        <p:nvSpPr>
          <p:cNvPr id="109" name="Google Shape;109;p17"/>
          <p:cNvSpPr/>
          <p:nvPr/>
        </p:nvSpPr>
        <p:spPr>
          <a:xfrm>
            <a:off x="2490328" y="6293307"/>
            <a:ext cx="5832900" cy="1656300"/>
          </a:xfrm>
          <a:prstGeom prst="roundRect">
            <a:avLst>
              <a:gd fmla="val 9146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85233" y="6468366"/>
            <a:ext cx="562094" cy="504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565902" y="8270972"/>
            <a:ext cx="252889" cy="2271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2685233" y="7141437"/>
            <a:ext cx="23424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Config</a:t>
            </a:r>
            <a:r>
              <a:rPr b="0" i="0" lang="en-US" sz="18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 Server</a:t>
            </a:r>
            <a:endParaRPr b="0" i="0" sz="1800" u="none" cap="none" strike="noStrike"/>
          </a:p>
        </p:txBody>
      </p:sp>
      <p:sp>
        <p:nvSpPr>
          <p:cNvPr id="113" name="Google Shape;113;p17"/>
          <p:cNvSpPr/>
          <p:nvPr/>
        </p:nvSpPr>
        <p:spPr>
          <a:xfrm>
            <a:off x="2685233" y="7505242"/>
            <a:ext cx="54432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9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Github Properties</a:t>
            </a:r>
            <a:endParaRPr b="0" i="0" sz="1450" u="none" cap="none" strike="noStrike"/>
          </a:p>
        </p:txBody>
      </p:sp>
      <p:sp>
        <p:nvSpPr>
          <p:cNvPr id="114" name="Google Shape;114;p17"/>
          <p:cNvSpPr/>
          <p:nvPr/>
        </p:nvSpPr>
        <p:spPr>
          <a:xfrm>
            <a:off x="12454200" y="7322400"/>
            <a:ext cx="2176200" cy="9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1792350" y="1524175"/>
            <a:ext cx="48255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850"/>
              <a:buFont typeface="Montserrat"/>
              <a:buNone/>
            </a:pPr>
            <a:r>
              <a:rPr b="0" i="0" lang="en-US" sz="1850" u="none" cap="none" strike="noStrike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Key Technologies</a:t>
            </a:r>
            <a:endParaRPr b="0" i="0" sz="185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1792350" y="2634035"/>
            <a:ext cx="11737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Spring Boot &amp; Spring Cloud</a:t>
            </a:r>
            <a:r>
              <a:rPr b="0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 for microservices framework</a:t>
            </a:r>
            <a:endParaRPr b="0" i="0" sz="150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1792350" y="3478631"/>
            <a:ext cx="11737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My</a:t>
            </a:r>
            <a:r>
              <a:rPr b="1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SQL &amp; MongoDB</a:t>
            </a:r>
            <a:r>
              <a:rPr b="0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 for hybrid data storage</a:t>
            </a:r>
            <a:endParaRPr b="0" i="0" sz="1500" u="none" cap="none" strike="noStrike"/>
          </a:p>
        </p:txBody>
      </p:sp>
      <p:sp>
        <p:nvSpPr>
          <p:cNvPr id="123" name="Google Shape;123;p18"/>
          <p:cNvSpPr/>
          <p:nvPr/>
        </p:nvSpPr>
        <p:spPr>
          <a:xfrm>
            <a:off x="1792350" y="4323229"/>
            <a:ext cx="11737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RabbitMQ</a:t>
            </a:r>
            <a:r>
              <a:rPr b="0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 as message broker for async communication</a:t>
            </a:r>
            <a:endParaRPr b="0" i="0" sz="1500" u="none" cap="none" strike="noStrike"/>
          </a:p>
        </p:txBody>
      </p:sp>
      <p:sp>
        <p:nvSpPr>
          <p:cNvPr id="124" name="Google Shape;124;p18"/>
          <p:cNvSpPr/>
          <p:nvPr/>
        </p:nvSpPr>
        <p:spPr>
          <a:xfrm>
            <a:off x="1792350" y="5167827"/>
            <a:ext cx="11737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Docker &amp; Docker Compose</a:t>
            </a:r>
            <a:r>
              <a:rPr b="0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 for containerization</a:t>
            </a:r>
            <a:endParaRPr b="0" i="0" sz="150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1792350" y="6012425"/>
            <a:ext cx="11737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JWT Authentication</a:t>
            </a:r>
            <a:r>
              <a:rPr b="0" i="0" lang="en-US" sz="15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 for secure access control</a:t>
            </a:r>
            <a:endParaRPr b="0" i="0" sz="1500" u="none" cap="none" strike="noStrike"/>
          </a:p>
        </p:txBody>
      </p:sp>
      <p:sp>
        <p:nvSpPr>
          <p:cNvPr id="126" name="Google Shape;126;p18"/>
          <p:cNvSpPr/>
          <p:nvPr/>
        </p:nvSpPr>
        <p:spPr>
          <a:xfrm>
            <a:off x="12454200" y="7322400"/>
            <a:ext cx="2176200" cy="9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793790" y="995243"/>
            <a:ext cx="1619250" cy="441484"/>
          </a:xfrm>
          <a:prstGeom prst="roundRect">
            <a:avLst>
              <a:gd fmla="val 36993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498" y="1125260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1209675" y="1070848"/>
            <a:ext cx="105965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C6C9DC"/>
                </a:solidFill>
                <a:latin typeface="Inter"/>
                <a:ea typeface="Inter"/>
                <a:cs typeface="Inter"/>
                <a:sym typeface="Inter"/>
              </a:rPr>
              <a:t>DATA LAYER</a:t>
            </a:r>
            <a:endParaRPr b="0" i="0" sz="1400" u="none" cap="none" strike="noStrike"/>
          </a:p>
        </p:txBody>
      </p:sp>
      <p:sp>
        <p:nvSpPr>
          <p:cNvPr id="135" name="Google Shape;135;p19"/>
          <p:cNvSpPr/>
          <p:nvPr/>
        </p:nvSpPr>
        <p:spPr>
          <a:xfrm>
            <a:off x="793790" y="1527453"/>
            <a:ext cx="747617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Database Design Strategy</a:t>
            </a:r>
            <a:endParaRPr b="0" i="0" sz="4450" u="none" cap="none" strike="noStrike"/>
          </a:p>
        </p:txBody>
      </p:sp>
      <p:pic>
        <p:nvPicPr>
          <p:cNvPr descr="preencoded.png" id="136" name="Google Shape;1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576393"/>
            <a:ext cx="6521410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1020604" y="37104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My sql</a:t>
            </a:r>
            <a:endParaRPr b="0" i="0" sz="2200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1020604" y="4200882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Relational Data</a:t>
            </a:r>
            <a:endParaRPr b="0" i="0" sz="1750" u="none" cap="none" strike="noStrike"/>
          </a:p>
        </p:txBody>
      </p:sp>
      <p:sp>
        <p:nvSpPr>
          <p:cNvPr id="139" name="Google Shape;139;p19"/>
          <p:cNvSpPr/>
          <p:nvPr/>
        </p:nvSpPr>
        <p:spPr>
          <a:xfrm>
            <a:off x="1020604" y="4699873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Users Table</a:t>
            </a:r>
            <a:endParaRPr b="0" i="0" sz="1750" u="none" cap="none" strike="noStrike"/>
          </a:p>
        </p:txBody>
      </p:sp>
      <p:sp>
        <p:nvSpPr>
          <p:cNvPr id="140" name="Google Shape;140;p19"/>
          <p:cNvSpPr/>
          <p:nvPr/>
        </p:nvSpPr>
        <p:spPr>
          <a:xfrm>
            <a:off x="1020604" y="5142071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Assignments Table</a:t>
            </a:r>
            <a:endParaRPr b="0" i="0" sz="175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1020604" y="5584269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Notifications Table</a:t>
            </a:r>
            <a:endParaRPr b="0" i="0" sz="1750" u="none" cap="none" strike="noStrike"/>
          </a:p>
        </p:txBody>
      </p:sp>
      <p:pic>
        <p:nvPicPr>
          <p:cNvPr descr="preencoded.png"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576393"/>
            <a:ext cx="6521410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/>
          <p:nvPr/>
        </p:nvSpPr>
        <p:spPr>
          <a:xfrm>
            <a:off x="7542014" y="37104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MongoDB</a:t>
            </a:r>
            <a:endParaRPr b="0" i="0" sz="220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7542014" y="4200882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Document Data</a:t>
            </a:r>
            <a:endParaRPr b="0" i="0" sz="175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7542014" y="4699873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Tickets Collection</a:t>
            </a:r>
            <a:endParaRPr b="0" i="0" sz="175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7542014" y="5142071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Comments </a:t>
            </a:r>
            <a:r>
              <a:rPr lang="en-US" sz="1750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Collection</a:t>
            </a:r>
            <a:endParaRPr b="0" i="0" sz="1750" u="none" cap="none" strike="noStrike"/>
          </a:p>
        </p:txBody>
      </p:sp>
      <p:sp>
        <p:nvSpPr>
          <p:cNvPr id="147" name="Google Shape;147;p19"/>
          <p:cNvSpPr/>
          <p:nvPr/>
        </p:nvSpPr>
        <p:spPr>
          <a:xfrm>
            <a:off x="7542014" y="5584269"/>
            <a:ext cx="60677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Attachments</a:t>
            </a:r>
            <a:endParaRPr b="0" i="0" sz="175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793790" y="687133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Hybrid database approach combines relational integrity with flexible document storage for complex ticket structures.</a:t>
            </a:r>
            <a:endParaRPr b="0" i="0" sz="175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12454200" y="7322400"/>
            <a:ext cx="2176200" cy="9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538163" y="788313"/>
            <a:ext cx="3996690" cy="480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000"/>
              <a:buFont typeface="Montserrat"/>
              <a:buNone/>
            </a:pPr>
            <a:r>
              <a:rPr lang="en-US" sz="3000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My Sql </a:t>
            </a:r>
            <a:r>
              <a:rPr b="0" i="0" lang="en-US" sz="3000" u="none" cap="none" strike="noStrike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Schema</a:t>
            </a:r>
            <a:endParaRPr b="0" i="0" sz="3000" u="none" cap="none" strike="noStrike"/>
          </a:p>
        </p:txBody>
      </p:sp>
      <p:sp>
        <p:nvSpPr>
          <p:cNvPr id="156" name="Google Shape;156;p20"/>
          <p:cNvSpPr/>
          <p:nvPr/>
        </p:nvSpPr>
        <p:spPr>
          <a:xfrm>
            <a:off x="538163" y="1730097"/>
            <a:ext cx="8067675" cy="1139547"/>
          </a:xfrm>
          <a:prstGeom prst="roundRect">
            <a:avLst>
              <a:gd fmla="val 96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3" y="1707237"/>
            <a:ext cx="806767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376" y="1499473"/>
            <a:ext cx="461248" cy="4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4479727" y="1614726"/>
            <a:ext cx="184428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450" u="none" cap="none" strike="noStrike"/>
          </a:p>
        </p:txBody>
      </p:sp>
      <p:sp>
        <p:nvSpPr>
          <p:cNvPr id="160" name="Google Shape;160;p20"/>
          <p:cNvSpPr/>
          <p:nvPr/>
        </p:nvSpPr>
        <p:spPr>
          <a:xfrm>
            <a:off x="714732" y="2114550"/>
            <a:ext cx="1922264" cy="240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Users Table</a:t>
            </a:r>
            <a:endParaRPr b="0" i="0" sz="1500" u="none" cap="none" strike="noStrike"/>
          </a:p>
        </p:txBody>
      </p:sp>
      <p:sp>
        <p:nvSpPr>
          <p:cNvPr id="161" name="Google Shape;161;p20"/>
          <p:cNvSpPr/>
          <p:nvPr/>
        </p:nvSpPr>
        <p:spPr>
          <a:xfrm>
            <a:off x="714732" y="2446973"/>
            <a:ext cx="7714536" cy="2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Authentication credentials and comprehensive user profiles for all system participants.</a:t>
            </a:r>
            <a:endParaRPr b="0" i="0" sz="1200" u="none" cap="none" strike="noStrike"/>
          </a:p>
        </p:txBody>
      </p:sp>
      <p:sp>
        <p:nvSpPr>
          <p:cNvPr id="162" name="Google Shape;162;p20"/>
          <p:cNvSpPr/>
          <p:nvPr/>
        </p:nvSpPr>
        <p:spPr>
          <a:xfrm>
            <a:off x="538163" y="3253978"/>
            <a:ext cx="8067675" cy="1139547"/>
          </a:xfrm>
          <a:prstGeom prst="roundRect">
            <a:avLst>
              <a:gd fmla="val 96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3" y="3231118"/>
            <a:ext cx="806767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376" y="3023354"/>
            <a:ext cx="461248" cy="4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/>
          <p:nvPr/>
        </p:nvSpPr>
        <p:spPr>
          <a:xfrm>
            <a:off x="4479727" y="3138607"/>
            <a:ext cx="184428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450" u="none" cap="none" strike="noStrike"/>
          </a:p>
        </p:txBody>
      </p:sp>
      <p:sp>
        <p:nvSpPr>
          <p:cNvPr id="166" name="Google Shape;166;p20"/>
          <p:cNvSpPr/>
          <p:nvPr/>
        </p:nvSpPr>
        <p:spPr>
          <a:xfrm>
            <a:off x="714732" y="3638431"/>
            <a:ext cx="1922264" cy="240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Assignments Table</a:t>
            </a:r>
            <a:endParaRPr b="0" i="0" sz="1500" u="none" cap="none" strike="noStrike"/>
          </a:p>
        </p:txBody>
      </p:sp>
      <p:sp>
        <p:nvSpPr>
          <p:cNvPr id="167" name="Google Shape;167;p20"/>
          <p:cNvSpPr/>
          <p:nvPr/>
        </p:nvSpPr>
        <p:spPr>
          <a:xfrm>
            <a:off x="714732" y="3970853"/>
            <a:ext cx="7714536" cy="2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Complete ticket assignment history tracking for accountability and audit trails.</a:t>
            </a:r>
            <a:endParaRPr b="0" i="0" sz="120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538163" y="4777859"/>
            <a:ext cx="8067675" cy="1139547"/>
          </a:xfrm>
          <a:prstGeom prst="roundRect">
            <a:avLst>
              <a:gd fmla="val 96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3" y="4754999"/>
            <a:ext cx="806767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376" y="4547235"/>
            <a:ext cx="461248" cy="4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4479727" y="4662488"/>
            <a:ext cx="184428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45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714732" y="5162312"/>
            <a:ext cx="1922264" cy="240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Notifications Table</a:t>
            </a:r>
            <a:endParaRPr b="0" i="0" sz="15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714732" y="5494734"/>
            <a:ext cx="7714536" cy="2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Event notifications and alert management for real-time communication.</a:t>
            </a:r>
            <a:endParaRPr b="0" i="0" sz="1200" u="none" cap="none" strike="noStrike"/>
          </a:p>
        </p:txBody>
      </p:sp>
      <p:pic>
        <p:nvPicPr>
          <p:cNvPr descr="preencoded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3" y="6278880"/>
            <a:ext cx="806767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376" y="6071116"/>
            <a:ext cx="461248" cy="4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4479727" y="6186368"/>
            <a:ext cx="184428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4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12454200" y="7322400"/>
            <a:ext cx="2176200" cy="9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793790" y="1717715"/>
            <a:ext cx="625494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74767D"/>
                </a:solidFill>
                <a:latin typeface="Montserrat"/>
                <a:ea typeface="Montserrat"/>
                <a:cs typeface="Montserrat"/>
                <a:sym typeface="Montserrat"/>
              </a:rPr>
              <a:t>MongoDB Collections</a:t>
            </a:r>
            <a:endParaRPr b="0" i="0" sz="4450" u="none" cap="none" strike="noStrike"/>
          </a:p>
        </p:txBody>
      </p:sp>
      <p:pic>
        <p:nvPicPr>
          <p:cNvPr descr="preencoded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80122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1757720" y="307145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Tickets Collection</a:t>
            </a:r>
            <a:endParaRPr b="0" i="0" sz="2200" u="none" cap="none" strike="noStrike"/>
          </a:p>
        </p:txBody>
      </p:sp>
      <p:sp>
        <p:nvSpPr>
          <p:cNvPr id="186" name="Google Shape;186;p21"/>
          <p:cNvSpPr/>
          <p:nvPr/>
        </p:nvSpPr>
        <p:spPr>
          <a:xfrm>
            <a:off x="1757720" y="3561874"/>
            <a:ext cx="541567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Flexible schema design accommodates complex ticket structures with extensible properties and dynamic fields.</a:t>
            </a:r>
            <a:endParaRPr b="0" i="0" sz="1750" u="none" cap="none" strike="noStrike"/>
          </a:p>
        </p:txBody>
      </p:sp>
      <p:pic>
        <p:nvPicPr>
          <p:cNvPr descr="preencoded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2880122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8420829" y="3071450"/>
            <a:ext cx="3879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Comments </a:t>
            </a:r>
            <a:r>
              <a:rPr lang="en-US" sz="2200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Collection</a:t>
            </a:r>
            <a:endParaRPr b="0" i="0" sz="2200" u="none" cap="none" strike="noStrike"/>
          </a:p>
        </p:txBody>
      </p:sp>
      <p:sp>
        <p:nvSpPr>
          <p:cNvPr id="189" name="Google Shape;189;p21"/>
          <p:cNvSpPr/>
          <p:nvPr/>
        </p:nvSpPr>
        <p:spPr>
          <a:xfrm>
            <a:off x="8420814" y="3561874"/>
            <a:ext cx="541579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Embedded comments within ticket documents enable threaded conversations and collaboration history.</a:t>
            </a:r>
            <a:endParaRPr b="0" i="0" sz="1750" u="none" cap="none" strike="noStrike"/>
          </a:p>
        </p:txBody>
      </p:sp>
      <p:pic>
        <p:nvPicPr>
          <p:cNvPr descr="preencoded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104209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1757720" y="52955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3D3E44"/>
                </a:solidFill>
                <a:latin typeface="Montserrat"/>
                <a:ea typeface="Montserrat"/>
                <a:cs typeface="Montserrat"/>
                <a:sym typeface="Montserrat"/>
              </a:rPr>
              <a:t>Attachments</a:t>
            </a:r>
            <a:endParaRPr b="0" i="0" sz="220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1757720" y="5785961"/>
            <a:ext cx="541567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File URLs and metadata storage for supporting documentation and evidence.</a:t>
            </a:r>
            <a:endParaRPr b="0" i="0" sz="175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12454200" y="7322400"/>
            <a:ext cx="2176200" cy="9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